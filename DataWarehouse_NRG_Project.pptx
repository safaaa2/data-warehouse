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NOK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NO002
Bergen</c:v>
                  </c:pt>
                  <c:pt idx="1">
                    <c:v>SE002
Gothenburg</c:v>
                  </c:pt>
                  <c:pt idx="2">
                    <c:v>EC_SE
Online SE</c:v>
                  </c:pt>
                  <c:pt idx="3">
                    <c:v>SE001
Stockholm</c:v>
                  </c:pt>
                  <c:pt idx="4">
                    <c:v>NO001
Oslo City</c:v>
                  </c:pt>
                  <c:pt idx="5">
                    <c:v>EC_NO
Online NO</c:v>
                  </c:pt>
                  <c:pt idx="6">
                    <c:v>NO003
Trondheim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3169192</c:v>
                </c:pt>
                <c:pt idx="1">
                  <c:v>3111523</c:v>
                </c:pt>
                <c:pt idx="2">
                  <c:v>3078347</c:v>
                </c:pt>
                <c:pt idx="3">
                  <c:v>3073543</c:v>
                </c:pt>
                <c:pt idx="4">
                  <c:v>3042787</c:v>
                </c:pt>
                <c:pt idx="5">
                  <c:v>3035103</c:v>
                </c:pt>
                <c:pt idx="6">
                  <c:v>2835367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A56DB"/>
            </a:solidFill>
            <a:ln w="31750" cap="flat">
              <a:solidFill>
                <a:srgbClr val="1A56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56DB"/>
              </a:solidFill>
              <a:ln w="9525" cap="flat">
                <a:solidFill>
                  <a:srgbClr val="1A56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996254</c:v>
                </c:pt>
                <c:pt idx="1">
                  <c:v>887046</c:v>
                </c:pt>
                <c:pt idx="2">
                  <c:v>1027222</c:v>
                </c:pt>
                <c:pt idx="3">
                  <c:v>915165</c:v>
                </c:pt>
                <c:pt idx="4">
                  <c:v>968930</c:v>
                </c:pt>
                <c:pt idx="5">
                  <c:v>832299</c:v>
                </c:pt>
                <c:pt idx="6">
                  <c:v>981781</c:v>
                </c:pt>
                <c:pt idx="7">
                  <c:v>911648</c:v>
                </c:pt>
                <c:pt idx="8">
                  <c:v>904077</c:v>
                </c:pt>
                <c:pt idx="9">
                  <c:v>835048</c:v>
                </c:pt>
                <c:pt idx="10">
                  <c:v>865274</c:v>
                </c:pt>
                <c:pt idx="11">
                  <c:v>800076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880780</c:v>
                </c:pt>
                <c:pt idx="1">
                  <c:v>856727</c:v>
                </c:pt>
                <c:pt idx="2">
                  <c:v>940039</c:v>
                </c:pt>
                <c:pt idx="3">
                  <c:v>773341</c:v>
                </c:pt>
                <c:pt idx="4">
                  <c:v>642283</c:v>
                </c:pt>
                <c:pt idx="5">
                  <c:v>965178</c:v>
                </c:pt>
                <c:pt idx="6">
                  <c:v>1041667</c:v>
                </c:pt>
                <c:pt idx="7">
                  <c:v>898884</c:v>
                </c:pt>
                <c:pt idx="8">
                  <c:v>889330</c:v>
                </c:pt>
                <c:pt idx="9">
                  <c:v>691380</c:v>
                </c:pt>
                <c:pt idx="10">
                  <c:v>946352</c:v>
                </c:pt>
                <c:pt idx="11">
                  <c:v>895081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Bergen NO002</c:v>
                </c:pt>
                <c:pt idx="1">
                  <c:v>Gothenburg SE002</c:v>
                </c:pt>
                <c:pt idx="2">
                  <c:v>Online SE EC_SE</c:v>
                </c:pt>
                <c:pt idx="3">
                  <c:v>Stockholm SE001</c:v>
                </c:pt>
                <c:pt idx="4">
                  <c:v>Oslo City NO001</c:v>
                </c:pt>
                <c:pt idx="5">
                  <c:v>Online NO EC_NO</c:v>
                </c:pt>
                <c:pt idx="6">
                  <c:v>Trondheim NO003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3169192</c:v>
                </c:pt>
                <c:pt idx="1">
                  <c:v>3111523</c:v>
                </c:pt>
                <c:pt idx="2">
                  <c:v>3078347</c:v>
                </c:pt>
                <c:pt idx="3">
                  <c:v>3073543</c:v>
                </c:pt>
                <c:pt idx="4">
                  <c:v>3042787</c:v>
                </c:pt>
                <c:pt idx="5">
                  <c:v>3035103</c:v>
                </c:pt>
                <c:pt idx="6">
                  <c:v>2835367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Store</c:v>
                </c:pt>
                <c:pt idx="1">
                  <c:v>Ecom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1A56D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Norvège</c:v>
                </c:pt>
                <c:pt idx="1">
                  <c:v>Suède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</a:rPr>
              <a:t>DATA WAREHOUSE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NRG Retail — Architecture Bronze / Silver / Gold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7432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🥉 BRONZE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Ingestion brute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2926080"/>
            <a:ext cx="27432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🥈 SILVER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Nettoyage &amp; standardisation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49440" y="2926080"/>
            <a:ext cx="274320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🥇 GOLD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Modèle analytique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93008" y="3218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01968" y="32186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20 000 transactions  •  7 magasins  •  2025–2026  •  NOK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 Engineering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</a:rPr>
              <a:t>Architecture du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CSV Sources  →  Bronze  →  Silver  →  Gold  →  Power BI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103120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5 fichiers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20k lignes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2103120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🥉 BRONZE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0848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Ingestion brute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Sans transformation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20640" y="1417320"/>
            <a:ext cx="2103120" cy="1463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🥈 SILVER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0848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Nettoyage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Standardisation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210312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🥇 GOLD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20848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Star Schema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Dimensions + Facts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875520" y="1417320"/>
            <a:ext cx="2103120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669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Power BI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6960" y="20848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Dashboards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Reporting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8716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6460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4204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1948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B3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1133856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1133856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🧪  Data Quality Checks — À chaque étape : COUNT, doublons, clés étrangères, valeurs nulles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Tables Bronze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bronze.account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bronze.store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bronze.storemaster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bronze.gltransaction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bronze.account_mapping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Tables Silver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silver.account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silver.store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silver.storemaster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silver.gltransaction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silver.account_mapping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Tables Gold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4160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gold.dimaccount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gold.dimstore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gold.fact_gl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🥉  BRONZE LAYER — Ingestion des données brutes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Objectif : Charger les fichiers CSV sans aucune transformation — copie fidèle des sources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402336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bronze.account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Colonnes 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account_number, account_name,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account_type, currency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📊 6 lignes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54480"/>
            <a:ext cx="402336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bronze.account_mapping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901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Colonnes 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AccountNumber, AccountName,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PLLine, StatementType, SortOrder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2724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📊 9 lignes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778240" y="15544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0" y="1554480"/>
            <a:ext cx="402336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bronze.store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0" y="1901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Colonnes 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86968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store_code, country, region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69680" y="2724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📊 7 lignes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00400"/>
            <a:ext cx="402336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bronze.storemaster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47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Colonnes 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store_code, store_name, store_type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3708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📊 7 lignes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200400"/>
            <a:ext cx="4023360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bronze.gltransaction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547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Colonnes 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transaction_id, transaction_date,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store_code, account_number,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1B3E"/>
                </a:solidFill>
              </a:rPr>
              <a:t>amount_local, currency, document_number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43708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📊 20 000 lignes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778240" y="3200400"/>
            <a:ext cx="301752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69680" y="32735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SQL — BULK INSERT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86968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 INSERT bronze.gltransaction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'transaction.csv'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FIELDTERMINATOR = ',',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FIRSTROW = 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🥈  SILVER LAYER — Nettoyage &amp; Standardisation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527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🧹 Nettoyage technique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TRIM() sur tous les champs texte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UPPER() sur les codes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CAST() des types de données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Gestion des valeurs NULL → défauts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188720"/>
            <a:ext cx="54864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2527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Standardisation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'P L' → 'P&amp;L' (correction)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Suppression des doublons (ROW_NUMBER)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Harmonisation des formats 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Codes UPPER uniformes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4864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49040"/>
            <a:ext cx="54864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813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Données métier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Normalisation des clés (store_code)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Jointure store + storemaster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Jointure account + account_mapping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• Structuration cohérente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486400" cy="2286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749040"/>
            <a:ext cx="5486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130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Données exclues / signalées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20624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• Account 3010 : mapping manquant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• Account 4100 : classification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• Account 7000 : position P&amp;L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• Doublon 5100 (HQ vs Store)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6126480"/>
            <a:ext cx="1133856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1996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Exemple Silver SQL :  UPDATE silver.account_mapping SET StatementType = 'P&amp;L' WHERE StatementType = 'P L'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🥇  GOLD LAYER — Star Schema (Modèle en Étoile)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251960" y="2286000"/>
            <a:ext cx="3657600" cy="256032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51960" y="2286000"/>
            <a:ext cx="36576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gold.fact_gl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26974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fact_key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store_key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account_number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amount_local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document_number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transaction_date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4747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34747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75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🏷 gold.dimaccount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account_key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account_number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account_type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pl_line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sort_order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4747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1920240"/>
            <a:ext cx="34747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75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🏪 gold.dimstore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3317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store_key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account_key  ────────────────→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←────────────────  store_key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*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6092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*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5486400"/>
            <a:ext cx="11338560" cy="11430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77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📌 Jointures réalisées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fact_gl  JOIN  dimaccount  ON fact_gl.account_key = dimaccount.account_key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fact_gl  JOIN  dimstore    ON fact_gl.store_key   = dimstore.store_key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🧪  Data Quality Checks — Vérification à chaque étape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669280" cy="2020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66928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978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🥉/🥈/🥇 Couche Bronze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COUNT(*) par table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20 000 lignes gltransaction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Vérif. colonnes chargées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Toutes les colonnes présentes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Aucune transformation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Données brutes intactes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5669280" cy="2496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5669280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638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🥉/🥈/🥇 Couche Silver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Doublons account_mapping (5100)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721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⚠️ 2 lignes détectées → ROW_NUMBER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995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Correction 'P L' → 'P&amp;L'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41970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1 ligne corrigée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4714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NULL pl_line (acct 3010, 7000)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6725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⚠️ 3 comptes non mappés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9469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COUNT Silver vs Bronze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51480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20 000 lignes Silver = Bronze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0" y="1143000"/>
            <a:ext cx="5669280" cy="2496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143000"/>
            <a:ext cx="56692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1978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🥉/🥈/🥇 Couche Gold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1554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Intégrité FK fact_gl → dimaccount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37960" y="17556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0 orphelin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37960" y="2029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Intégrité FK fact_gl → dimstore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37960" y="22311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0 orphelin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37960" y="2505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Doublons fact_key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37960" y="27066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0 doublon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37960" y="2980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COUNT Gold vs Silver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37960" y="31821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✅ 20 000 transactions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557784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5577840"/>
            <a:ext cx="54864" cy="10515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696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Transactions chargées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5879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20 000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291840" y="557784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5577840"/>
            <a:ext cx="54864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5696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Doublons supprimés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29000" y="5879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1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217920" y="557784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5577840"/>
            <a:ext cx="54864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696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Comptes non mappés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5879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3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9144000" y="557784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44000" y="5577840"/>
            <a:ext cx="54864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81160" y="5696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Intégrité FK Gold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281160" y="5879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100%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 Power BI — Vue globale des performances (P&amp;L)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Données réelles — gold.fact_gl • 2025–2026 • Devise : NOK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Total (3000)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21.3M NOK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FY 2025–2026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COGS (4000)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15.5M NOK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72.7% du Revenue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54864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GP Margin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27.3%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Revenue − COGS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0" y="100584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005840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124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Nb Transactions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20 000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16367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magasins • 6 comptes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057400"/>
            <a:ext cx="54864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Revenue par store_code (account 3000)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2377440"/>
          <a:ext cx="5486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035040" y="2057400"/>
            <a:ext cx="576072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26480" y="2148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P&amp;L Statement — gold.fact_gl × gold.dimaccount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423160"/>
          <a:ext cx="5760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031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pl_line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amount_local (NOK)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% Rev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3E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21 345 863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  COGS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(15 524 964)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72.7%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3E"/>
                          </a:solidFill>
                        </a:rPr>
                        <a:t>Gross Profit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5 820 899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3E"/>
                          </a:solidFill>
                        </a:rPr>
                        <a:t>27.3%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  Salaries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(16 208 829)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75.9%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  Rent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(15 817 517)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74.1%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  Marketing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(16 293 722)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76.3%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3E"/>
                          </a:solidFill>
                        </a:rPr>
                        <a:t>EBITDA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(42 499 169)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  Interest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(16 004 187)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3E"/>
                          </a:solidFill>
                        </a:rPr>
                        <a:t>Net Income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(58 503 356)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📈  Suivi des tendances — Revenue mensuel (2025 vs 2026)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Source : gold.fact_gl — account_number = 3000 (Product Sales)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00584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1115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📌 Observations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1508760"/>
            <a:ext cx="9144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508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2025 Total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75320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10.9M NOK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92440" y="2011680"/>
            <a:ext cx="914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2026 Total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75320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10.4M NOK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2514600"/>
            <a:ext cx="914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Variation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75320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−4.6%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92440" y="306324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Pic Jan 2025 : 996k NOK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Creux Oct 2026 : 691k NOK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Saisonnalité modérée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2026 en retrait vs 2025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sauf Juin–Juillet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• transaction_date utilisé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pour l'axe temporel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50292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5029200"/>
            <a:ext cx="54864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5148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Mois le + fort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5330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Jan 2025 — 996k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297680" y="50292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97680" y="502920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4840" y="5148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Mois le + faible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434840" y="5330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Oct 2026 — 691k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229600" y="50292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229600" y="5029200"/>
            <a:ext cx="54864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66760" y="5148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Moyenne mensuelle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66760" y="5330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3E"/>
                </a:solidFill>
              </a:rPr>
              <a:t>~895k NOK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🏪  Analyse par magasins &amp; régions — gold.dimstore × gold.fact_gl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7 points de vente : 5 stores physiques + 2 e-commerce  •  2 pays : Norvège &amp; Suède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Revenue par magasin (NOK)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325880"/>
          <a:ext cx="5029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005840"/>
            <a:ext cx="2926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Par store_type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669280" y="1325880"/>
          <a:ext cx="29260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778240" y="1005840"/>
            <a:ext cx="30175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86968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Par country</a:t>
            </a:r>
            <a:endParaRPr lang="en-US" sz="10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778240" y="1325880"/>
          <a:ext cx="3017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Shape 9"/>
          <p:cNvSpPr/>
          <p:nvPr/>
        </p:nvSpPr>
        <p:spPr>
          <a:xfrm>
            <a:off x="5669280" y="3566160"/>
            <a:ext cx="6126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760720" y="3657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Détail des magasins — gold.dimstore JOIN gold.fact_gl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931920"/>
          <a:ext cx="6126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640080"/>
                <a:gridCol w="109728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4748B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4748B"/>
                          </a:solidFill>
                        </a:rPr>
                        <a:t>Type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4748B"/>
                          </a:solidFill>
                        </a:rPr>
                        <a:t>Pays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4748B"/>
                          </a:solidFill>
                        </a:rPr>
                        <a:t>Région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4748B"/>
                          </a:solidFill>
                        </a:rPr>
                        <a:t>Revenue (NOK)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Bergen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West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</a:rPr>
                        <a:t>3 169 192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Gothenburg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West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3 111 523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Online 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5CF6"/>
                          </a:solidFill>
                        </a:rPr>
                        <a:t>Ecom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National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3 078 347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Stockholm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East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3 073 543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Oslo City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East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3 042 787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Online 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5CF6"/>
                          </a:solidFill>
                        </a:rPr>
                        <a:t>Ecom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National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3 035 103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NRG Trondheim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Store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NO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Mid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</a:rPr>
                        <a:t>2 835 367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6784848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Récapitulatif du projet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Data Warehouse NRG — Architecture Bronze / Silver / Gold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🥉 Bronze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 tables chargées via BULK INSERT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Données brutes conservées fidèlement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20 000 transactions GL importées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🥈 Silver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Nettoyage : TRIM, UPPER, CAST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Correction 'P L' → 'P&amp;L'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Suppression doublons account_mapping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🥇 Gold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66760" y="2103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Star Schema : fact_gl + dimaccount + dimstore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Jointures métier opérationnelles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Modèle prêt pour Power BI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🧪 Quality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389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COUNT Bronze = Silver = Gold 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0 orphelin sur FK 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comptes signalés pour revue ⚠️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3931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Power BI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4389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Vue P&amp;L globale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Analyse par magasin &amp; région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Tendances 2025 vs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3931920"/>
            <a:ext cx="3474720" cy="19202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6676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Sources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account.csv • account_mapping.csv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store.csv • store_master.csv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transaction.csv (20 000 lignes)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63550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Pipeline complet : CSV → Bronze → Silver → Gold → 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 — NRG Retail Analytics</dc:title>
  <dc:subject>PptxGenJS Presentation</dc:subject>
  <dc:creator>PptxGenJS</dc:creator>
  <cp:lastModifiedBy>PptxGenJS</cp:lastModifiedBy>
  <cp:revision>1</cp:revision>
  <dcterms:created xsi:type="dcterms:W3CDTF">2026-05-09T18:23:38Z</dcterms:created>
  <dcterms:modified xsi:type="dcterms:W3CDTF">2026-05-09T18:23:38Z</dcterms:modified>
</cp:coreProperties>
</file>